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B6A8"/>
              </a:solidFill>
              <a:effectLst/>
            </c:spPr>
          </c:dPt>
          <c:dPt>
            <c:idx val="1"/>
            <c:bubble3D val="0"/>
            <c:spPr>
              <a:solidFill>
                <a:srgbClr val="F5A52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Training</c:v>
                </c:pt>
                <c:pt idx="1">
                  <c:v>Testing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0F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Environment &amp; webcam</c:v>
                  </c:pt>
                  <c:pt idx="1">
                    <c:v>MediaPipe landmarks</c:v>
                  </c:pt>
                  <c:pt idx="2">
                    <c:v>Feature extraction</c:v>
                  </c:pt>
                  <c:pt idx="3">
                    <c:v>Rule-based + tuning</c:v>
                  </c:pt>
                  <c:pt idx="4">
                    <c:v>Dataset collection</c:v>
                  </c:pt>
                  <c:pt idx="5">
                    <c:v>Dataset checking</c:v>
                  </c:pt>
                  <c:pt idx="6">
                    <c:v>Model training</c:v>
                  </c:pt>
                  <c:pt idx="7">
                    <c:v>Real-time ML</c:v>
                  </c:pt>
                  <c:pt idx="8">
                    <c:v>Evaluation</c:v>
                  </c:pt>
                  <c:pt idx="9">
                    <c:v>Debug &amp; refine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</c:v>
                </c:pt>
                <c:pt idx="1">
                  <c:v>13.5</c:v>
                </c:pt>
                <c:pt idx="2">
                  <c:v>13</c:v>
                </c:pt>
                <c:pt idx="3">
                  <c:v>15</c:v>
                </c:pt>
                <c:pt idx="4">
                  <c:v>9</c:v>
                </c:pt>
                <c:pt idx="5">
                  <c:v>5</c:v>
                </c:pt>
                <c:pt idx="6">
                  <c:v>9</c:v>
                </c:pt>
                <c:pt idx="7">
                  <c:v>9</c:v>
                </c:pt>
                <c:pt idx="8">
                  <c:v>7</c:v>
                </c:pt>
                <c:pt idx="9">
                  <c:v>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914400"/>
            <a:ext cx="5029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COMPUTER VISION  ·  ROAD SAFETY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17830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Drowsiness Detection System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webcam system that reads facial features — eye closure and yawning — to detect driver fatigue and raise a live warning.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4892040"/>
            <a:ext cx="2148840" cy="713232"/>
          </a:xfrm>
          <a:prstGeom prst="roundRect">
            <a:avLst>
              <a:gd name="adj" fmla="val 12821"/>
            </a:avLst>
          </a:prstGeom>
          <a:solidFill>
            <a:srgbClr val="16265A"/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51023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48920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154680" y="4892040"/>
            <a:ext cx="2148840" cy="713232"/>
          </a:xfrm>
          <a:prstGeom prst="roundRect">
            <a:avLst>
              <a:gd name="adj" fmla="val 12821"/>
            </a:avLst>
          </a:prstGeom>
          <a:solidFill>
            <a:srgbClr val="16265A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510235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13048" y="48920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0" y="4892040"/>
            <a:ext cx="2148840" cy="713232"/>
          </a:xfrm>
          <a:prstGeom prst="roundRect">
            <a:avLst>
              <a:gd name="adj" fmla="val 12821"/>
            </a:avLst>
          </a:prstGeom>
          <a:solidFill>
            <a:srgbClr val="16265A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510235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4768" y="48920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fatigue before it becomes dangerous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4983480" cy="4526280"/>
          </a:xfrm>
          <a:prstGeom prst="roundRect">
            <a:avLst>
              <a:gd name="adj" fmla="val 242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working prototype that proves how AI and computer vision can be applied to road safety.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68680" y="41605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computer vision to analyse the face and machine learning to classify the driver's state in real time. It is a demonstration prototype — not a commercial safety product.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897880" y="16459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should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97880" y="210312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2402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73952" y="21031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webcam video in real time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97880" y="2761488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289864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73952" y="276148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face and extract eye &amp; mouth landmarks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897880" y="3419856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355701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73952" y="341985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eye openness and mouth openness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897880" y="4078224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421538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73952" y="407822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drowsiness and yawning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897880" y="4736592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487375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73952" y="47365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labelled values into a dataset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5897880" y="539496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4" y="553212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73952" y="53949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ML model and run it live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B6A8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an open-source Python stack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28800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0FB6A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39112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1847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28800" y="22677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53128" y="1554480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1828800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0F1B3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039112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33288" y="1847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733288" y="22677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 &amp; on-screen display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357616" y="1554480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13648" y="1828800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F5A52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2039112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37776" y="1847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637776" y="22677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landmark detection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3163824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" y="3438144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0E8C8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648456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28800" y="3456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Math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1828800" y="3877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&amp; ratio calculations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453128" y="3163824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709160" y="3438144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16265A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648456"/>
            <a:ext cx="420624" cy="4206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733288" y="3456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5733288" y="3877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checking the dataset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357616" y="3163824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613648" y="3438144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22C55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3648456"/>
            <a:ext cx="420624" cy="42062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637776" y="3456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9637776" y="3877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collected feature values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548640" y="4773168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804672" y="5047488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EF4444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" y="5257800"/>
            <a:ext cx="420624" cy="42062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828800" y="5065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40" name="Text 30"/>
          <p:cNvSpPr/>
          <p:nvPr/>
        </p:nvSpPr>
        <p:spPr>
          <a:xfrm>
            <a:off x="1828800" y="5486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splitting &amp; evaluation</a:t>
            </a:r>
            <a:endParaRPr lang="en-US" sz="1250" dirty="0"/>
          </a:p>
        </p:txBody>
      </p:sp>
      <p:sp>
        <p:nvSpPr>
          <p:cNvPr id="41" name="Shape 31"/>
          <p:cNvSpPr/>
          <p:nvPr/>
        </p:nvSpPr>
        <p:spPr>
          <a:xfrm>
            <a:off x="4453128" y="4773168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4709160" y="5047488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0FB6A8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5257800"/>
            <a:ext cx="420624" cy="42062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733288" y="5065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45" name="Text 34"/>
          <p:cNvSpPr/>
          <p:nvPr/>
        </p:nvSpPr>
        <p:spPr>
          <a:xfrm>
            <a:off x="5733288" y="5486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 model</a:t>
            </a:r>
            <a:endParaRPr lang="en-US" sz="1250" dirty="0"/>
          </a:p>
        </p:txBody>
      </p:sp>
      <p:sp>
        <p:nvSpPr>
          <p:cNvPr id="46" name="Shape 35"/>
          <p:cNvSpPr/>
          <p:nvPr/>
        </p:nvSpPr>
        <p:spPr>
          <a:xfrm>
            <a:off x="8357616" y="4773168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8613648" y="5047488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F59E0B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3960" y="5257800"/>
            <a:ext cx="420624" cy="420624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9637776" y="5065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700" dirty="0"/>
          </a:p>
        </p:txBody>
      </p:sp>
      <p:sp>
        <p:nvSpPr>
          <p:cNvPr id="50" name="Text 38"/>
          <p:cNvSpPr/>
          <p:nvPr/>
        </p:nvSpPr>
        <p:spPr>
          <a:xfrm>
            <a:off x="9637776" y="5486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Confusion-matrix visual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webcam frame to a live prediction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984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74520" y="2002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live video frames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2459736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81144" y="1691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73752" y="1984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B6A8"/>
          </a:solidFill>
          <a:ln/>
        </p:spPr>
      </p:sp>
      <p:sp>
        <p:nvSpPr>
          <p:cNvPr id="14" name="Text 10"/>
          <p:cNvSpPr/>
          <p:nvPr/>
        </p:nvSpPr>
        <p:spPr>
          <a:xfrm>
            <a:off x="4873752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907024" y="2002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873752" y="2743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 landmarks</a:t>
            </a:r>
            <a:endParaRPr lang="en-US" sz="13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459736"/>
            <a:ext cx="292608" cy="29260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613648" y="1691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906256" y="1984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F5A524"/>
          </a:solidFill>
          <a:ln/>
        </p:spPr>
      </p:sp>
      <p:sp>
        <p:nvSpPr>
          <p:cNvPr id="20" name="Text 15"/>
          <p:cNvSpPr/>
          <p:nvPr/>
        </p:nvSpPr>
        <p:spPr>
          <a:xfrm>
            <a:off x="8906256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9939528" y="2002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906256" y="2743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EAR &amp; mouth ratio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48640" y="3977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1248" y="4270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E8C82"/>
          </a:solidFill>
          <a:ln/>
        </p:spPr>
      </p:sp>
      <p:sp>
        <p:nvSpPr>
          <p:cNvPr id="25" name="Text 20"/>
          <p:cNvSpPr/>
          <p:nvPr/>
        </p:nvSpPr>
        <p:spPr>
          <a:xfrm>
            <a:off x="841248" y="4270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1874520" y="4288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841248" y="5029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labelled values to CSV</a:t>
            </a:r>
            <a:endParaRPr lang="en-US" sz="13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4745736"/>
            <a:ext cx="292608" cy="29260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581144" y="3977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73752" y="4270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F4444"/>
          </a:solidFill>
          <a:ln/>
        </p:spPr>
      </p:sp>
      <p:sp>
        <p:nvSpPr>
          <p:cNvPr id="31" name="Text 25"/>
          <p:cNvSpPr/>
          <p:nvPr/>
        </p:nvSpPr>
        <p:spPr>
          <a:xfrm>
            <a:off x="4873752" y="4270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5907024" y="4288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4873752" y="5029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</a:t>
            </a:r>
            <a:endParaRPr lang="en-US" sz="135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4745736"/>
            <a:ext cx="292608" cy="29260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613648" y="3977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906256" y="4270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2C55E"/>
          </a:solidFill>
          <a:ln/>
        </p:spPr>
      </p:sp>
      <p:sp>
        <p:nvSpPr>
          <p:cNvPr id="37" name="Text 30"/>
          <p:cNvSpPr/>
          <p:nvPr/>
        </p:nvSpPr>
        <p:spPr>
          <a:xfrm>
            <a:off x="8906256" y="4270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1"/>
          <p:cNvSpPr/>
          <p:nvPr/>
        </p:nvSpPr>
        <p:spPr>
          <a:xfrm>
            <a:off x="9939528" y="4288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</a:t>
            </a:r>
            <a:endParaRPr lang="en-US" sz="1800" dirty="0"/>
          </a:p>
        </p:txBody>
      </p:sp>
      <p:sp>
        <p:nvSpPr>
          <p:cNvPr id="39" name="Text 32"/>
          <p:cNvSpPr/>
          <p:nvPr/>
        </p:nvSpPr>
        <p:spPr>
          <a:xfrm>
            <a:off x="8906256" y="5029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state on screen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B6A8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FACE LANDMARKS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MediaPipe maps points across the face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webcam feed was stable, the MediaPipe Face Landmarker (loaded from a face_landmarker.task model file) was added to the pipeline. For every frame it returns a dense set of facial landmark points.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5F7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39242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3246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face is detected each frame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922776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5F7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6908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39227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landmark points on eyes and mouth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599432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5F7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74573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33856" y="45994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face reliably in real time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537960" y="169164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772400" y="2217420"/>
            <a:ext cx="2651760" cy="3383280"/>
          </a:xfrm>
          <a:prstGeom prst="ellipse">
            <a:avLst/>
          </a:prstGeom>
          <a:solidFill>
            <a:srgbClr val="16265A"/>
          </a:solidFill>
          <a:ln w="19050">
            <a:solidFill>
              <a:srgbClr val="0FB6A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101584" y="3451860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9" name="Shape 13"/>
          <p:cNvSpPr/>
          <p:nvPr/>
        </p:nvSpPr>
        <p:spPr>
          <a:xfrm>
            <a:off x="8247888" y="3332988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0" name="Shape 14"/>
          <p:cNvSpPr/>
          <p:nvPr/>
        </p:nvSpPr>
        <p:spPr>
          <a:xfrm>
            <a:off x="8439912" y="3332988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1" name="Shape 15"/>
          <p:cNvSpPr/>
          <p:nvPr/>
        </p:nvSpPr>
        <p:spPr>
          <a:xfrm>
            <a:off x="8595360" y="3451860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2" name="Shape 16"/>
          <p:cNvSpPr/>
          <p:nvPr/>
        </p:nvSpPr>
        <p:spPr>
          <a:xfrm>
            <a:off x="8439912" y="3570732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3" name="Shape 17"/>
          <p:cNvSpPr/>
          <p:nvPr/>
        </p:nvSpPr>
        <p:spPr>
          <a:xfrm>
            <a:off x="8247888" y="3570732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4" name="Shape 18"/>
          <p:cNvSpPr/>
          <p:nvPr/>
        </p:nvSpPr>
        <p:spPr>
          <a:xfrm>
            <a:off x="9509760" y="3451860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5" name="Shape 19"/>
          <p:cNvSpPr/>
          <p:nvPr/>
        </p:nvSpPr>
        <p:spPr>
          <a:xfrm>
            <a:off x="9665208" y="3332988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6" name="Shape 20"/>
          <p:cNvSpPr/>
          <p:nvPr/>
        </p:nvSpPr>
        <p:spPr>
          <a:xfrm>
            <a:off x="9857232" y="3332988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7" name="Shape 21"/>
          <p:cNvSpPr/>
          <p:nvPr/>
        </p:nvSpPr>
        <p:spPr>
          <a:xfrm>
            <a:off x="10003536" y="3451860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8" name="Shape 22"/>
          <p:cNvSpPr/>
          <p:nvPr/>
        </p:nvSpPr>
        <p:spPr>
          <a:xfrm>
            <a:off x="9857232" y="3570732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9" name="Shape 23"/>
          <p:cNvSpPr/>
          <p:nvPr/>
        </p:nvSpPr>
        <p:spPr>
          <a:xfrm>
            <a:off x="9665208" y="3570732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0" name="Shape 24"/>
          <p:cNvSpPr/>
          <p:nvPr/>
        </p:nvSpPr>
        <p:spPr>
          <a:xfrm>
            <a:off x="8595360" y="4558284"/>
            <a:ext cx="1005840" cy="438912"/>
          </a:xfrm>
          <a:prstGeom prst="ellipse">
            <a:avLst/>
          </a:prstGeom>
          <a:solidFill>
            <a:srgbClr val="16265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95360" y="47320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Shape 26"/>
          <p:cNvSpPr/>
          <p:nvPr/>
        </p:nvSpPr>
        <p:spPr>
          <a:xfrm>
            <a:off x="9509760" y="47320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Shape 27"/>
          <p:cNvSpPr/>
          <p:nvPr/>
        </p:nvSpPr>
        <p:spPr>
          <a:xfrm>
            <a:off x="9052560" y="454914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Shape 28"/>
          <p:cNvSpPr/>
          <p:nvPr/>
        </p:nvSpPr>
        <p:spPr>
          <a:xfrm>
            <a:off x="9052560" y="491490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690372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→ Eye Aspect Ratio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6903720" y="5623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→ Mouth Opening Ratio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FEATURE EXTRACTION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landmarks into numbers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05740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5A5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5856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(EAR)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920240" y="2542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open or closed the eyes are.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14400" y="324612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0F1B3D"/>
          </a:solidFill>
          <a:ln/>
        </p:spPr>
      </p:sp>
      <p:sp>
        <p:nvSpPr>
          <p:cNvPr id="12" name="Text 8"/>
          <p:cNvSpPr/>
          <p:nvPr/>
        </p:nvSpPr>
        <p:spPr>
          <a:xfrm>
            <a:off x="1097280" y="32461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(v1 + v2)</a:t>
            </a:r>
            <a:pPr indent="0" marL="0">
              <a:buNone/>
            </a:pPr>
            <a:r>
              <a:rPr lang="en-US" sz="19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× h)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91440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v1, v2 = vertical eye distances · h = horizontal eye distance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eyes close, the EAR value drops.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99632" y="173736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05740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25856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71232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Opening Ratio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571232" y="2542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yawning by mouth openness.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565392" y="324612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0F1B3D"/>
          </a:solidFill>
          <a:ln/>
        </p:spPr>
      </p:sp>
      <p:sp>
        <p:nvSpPr>
          <p:cNvPr id="21" name="Text 16"/>
          <p:cNvSpPr/>
          <p:nvPr/>
        </p:nvSpPr>
        <p:spPr>
          <a:xfrm>
            <a:off x="6748272" y="32461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</a:t>
            </a:r>
            <a:pPr indent="0" marL="0">
              <a:buNone/>
            </a:pPr>
            <a:r>
              <a:rPr lang="en-US" sz="17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horizontal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565392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&amp; horizontal mouth distances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565392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mouth opens wide, the ratio rises.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RULE-BASED DETECTION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Thresholds before machine learning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thresholds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5440680" cy="585216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08483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Eye-closed threshold (EAR)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36592" y="21945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10" name="Text 7"/>
          <p:cNvSpPr/>
          <p:nvPr/>
        </p:nvSpPr>
        <p:spPr>
          <a:xfrm>
            <a:off x="4736592" y="2194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798064"/>
            <a:ext cx="5440680" cy="585216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9806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Mouth-open threshold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36592" y="2907792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14" name="Text 11"/>
          <p:cNvSpPr/>
          <p:nvPr/>
        </p:nvSpPr>
        <p:spPr>
          <a:xfrm>
            <a:off x="4736592" y="2907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511296"/>
            <a:ext cx="5440680" cy="585216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511296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Closed-frames threshold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36592" y="362102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18" name="Text 15"/>
          <p:cNvSpPr/>
          <p:nvPr/>
        </p:nvSpPr>
        <p:spPr>
          <a:xfrm>
            <a:off x="4736592" y="3621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224528"/>
            <a:ext cx="5440680" cy="585216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224528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Yawn-frames threshold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36592" y="433425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22" name="Text 19"/>
          <p:cNvSpPr/>
          <p:nvPr/>
        </p:nvSpPr>
        <p:spPr>
          <a:xfrm>
            <a:off x="4736592" y="43342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50292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testing, EAR 0.40 with a 1-frame trigger made drowsiness reliably sensitive.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169164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2940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629400" y="2395728"/>
            <a:ext cx="4709160" cy="987552"/>
          </a:xfrm>
          <a:prstGeom prst="roundRect">
            <a:avLst>
              <a:gd name="adj" fmla="val 9259"/>
            </a:avLst>
          </a:prstGeom>
          <a:solidFill>
            <a:srgbClr val="16265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0" y="261518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761488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589520" y="25237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7589520" y="28712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open-mouth frames ≥ yawn threshold (checked first)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629400" y="3566160"/>
            <a:ext cx="4709160" cy="987552"/>
          </a:xfrm>
          <a:prstGeom prst="roundRect">
            <a:avLst>
              <a:gd name="adj" fmla="val 9259"/>
            </a:avLst>
          </a:prstGeom>
          <a:solidFill>
            <a:srgbClr val="16265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858000" y="378561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3931920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589520" y="3694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758952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if closed-eye frames ≥ closed threshold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6629400" y="4736592"/>
            <a:ext cx="4709160" cy="987552"/>
          </a:xfrm>
          <a:prstGeom prst="roundRect">
            <a:avLst>
              <a:gd name="adj" fmla="val 9259"/>
            </a:avLst>
          </a:prstGeom>
          <a:solidFill>
            <a:srgbClr val="16265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858000" y="495604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5102352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589520" y="4864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endParaRPr 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7589520" y="5212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driver is alert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8C82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 · DATASET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labelled feature values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save_dataset.py  →  data/drowsiness_dataset.csv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577840" cy="3886200"/>
          </a:xfrm>
          <a:prstGeom prst="roundRect">
            <a:avLst>
              <a:gd name="adj" fmla="val 2353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4505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8712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871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left_ear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4300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right_ear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37124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3000" y="37124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avg_ear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41330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300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mouth_ratio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68680" y="4553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43000" y="4553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closed_eye_frames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68680" y="4974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43000" y="49743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open_mouth_frames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" y="5394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4300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93192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class label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collected by acting out each state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0" y="224028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601968" y="239572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2C55E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532888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6948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7269480" y="2660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alert facial state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400800" y="320040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601968" y="33558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493008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26948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7269480" y="3621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 / heavy eyes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6400800" y="416052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601968" y="431596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453128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26948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</a:t>
            </a:r>
            <a:endParaRPr 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7269480" y="4581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Wide, sustained mouth opening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6400800" y="521208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0F1B3D"/>
          </a:solidFill>
          <a:ln/>
        </p:spPr>
      </p:sp>
      <p:sp>
        <p:nvSpPr>
          <p:cNvPr id="42" name="Text 36"/>
          <p:cNvSpPr/>
          <p:nvPr/>
        </p:nvSpPr>
        <p:spPr>
          <a:xfrm>
            <a:off x="6629400" y="5321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check_dataset.py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6629400" y="5596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row counts, label balance, missing values &amp; basic stats before training.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F4444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MODEL TRAINING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Random Forest classifier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numeric features  →  status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194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left_ear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37560" y="219456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0" name="Text 7"/>
          <p:cNvSpPr/>
          <p:nvPr/>
        </p:nvSpPr>
        <p:spPr>
          <a:xfrm>
            <a:off x="3520440" y="2194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right_ear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852928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8529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avg_ear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337560" y="2852928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28529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mouth_ratio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511296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5112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closed_eye_frames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337560" y="3511296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8" name="Text 15"/>
          <p:cNvSpPr/>
          <p:nvPr/>
        </p:nvSpPr>
        <p:spPr>
          <a:xfrm>
            <a:off x="3520440" y="35112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open_mouth_frames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773168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well with numerical, feature-based data and handles the three classes robustly. NO-FACE rows are removed; the trained model is saved to models_ml/drowsiness_model.pkl.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92240" y="17830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675120" y="233172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781812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2C55E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· LIVE APPLICATION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live_ml_app.py — the final system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src/live_ml_app.py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22576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webcam &amp; read frames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889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facial landmarks (MediaPipe)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34930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EAR &amp; mouth ratio per frame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4133088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40965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closed-eye &amp; open-mouth frames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47000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features to the Random Forest model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548640" y="5340096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9728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predicted status live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492240" y="17830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812280" y="2029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OUTPUT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812280" y="246888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16265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22592" y="26517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2C55E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779776"/>
            <a:ext cx="246888" cy="2468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680960" y="2468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Status: AWAKE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6812280" y="3547872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16265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022592" y="373075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4444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3858768"/>
            <a:ext cx="246888" cy="2468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680960" y="35478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Status: DROWSY</a:t>
            </a:r>
            <a:endParaRPr lang="en-US" sz="1700" dirty="0"/>
          </a:p>
        </p:txBody>
      </p:sp>
      <p:sp>
        <p:nvSpPr>
          <p:cNvPr id="35" name="Shape 30"/>
          <p:cNvSpPr/>
          <p:nvPr/>
        </p:nvSpPr>
        <p:spPr>
          <a:xfrm>
            <a:off x="6812280" y="4626864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16265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022592" y="480974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4937760"/>
            <a:ext cx="246888" cy="2468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680960" y="462686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Status: YAWNING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· EVALUATION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how well it classifies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evaluate_model.py  →  results/  (evaluation_report.txt · confusion_matrix.png)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578608" cy="155448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578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46704" y="2331720"/>
            <a:ext cx="2578608" cy="155448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2736" y="2578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B6A8"/>
          </a:solidFill>
          <a:ln/>
        </p:spPr>
      </p:sp>
      <p:sp>
        <p:nvSpPr>
          <p:cNvPr id="13" name="Text 10"/>
          <p:cNvSpPr/>
          <p:nvPr/>
        </p:nvSpPr>
        <p:spPr>
          <a:xfrm>
            <a:off x="3602736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02736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within each class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44768" y="2331720"/>
            <a:ext cx="2578608" cy="155448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2578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0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each true class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942832" y="2331720"/>
            <a:ext cx="2578608" cy="155448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198864" y="2578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21" name="Text 18"/>
          <p:cNvSpPr/>
          <p:nvPr/>
        </p:nvSpPr>
        <p:spPr>
          <a:xfrm>
            <a:off x="9198864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98864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precision &amp; recall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160520"/>
            <a:ext cx="11109960" cy="1920240"/>
          </a:xfrm>
          <a:prstGeom prst="roundRect">
            <a:avLst>
              <a:gd name="adj" fmla="val 571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6868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A524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57200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600200" y="4407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1600200" y="480060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3×3 grid (AWAKE · DROWSY · YAWNING) showing where predictions matched the true labels and where the model confused two states — the clearest view of per-class performance.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8732520" y="4462272"/>
            <a:ext cx="384048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153144" y="4462272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573768" y="4462272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732520" y="4882896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153144" y="4882896"/>
            <a:ext cx="384048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573768" y="4882896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732520" y="5303520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153144" y="5303520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573768" y="5303520"/>
            <a:ext cx="384048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131552" y="488289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vs. predicted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8C82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EFFORT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Roughly 85–100 hours end to end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549640" y="1783080"/>
            <a:ext cx="3108960" cy="4297680"/>
          </a:xfrm>
          <a:prstGeom prst="roundRect">
            <a:avLst>
              <a:gd name="adj" fmla="val 3529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77824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686800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85–100</a:t>
            </a:r>
            <a:endParaRPr lang="en-US" sz="5800" dirty="0"/>
          </a:p>
        </p:txBody>
      </p:sp>
      <p:sp>
        <p:nvSpPr>
          <p:cNvPr id="10" name="Text 6"/>
          <p:cNvSpPr/>
          <p:nvPr/>
        </p:nvSpPr>
        <p:spPr>
          <a:xfrm>
            <a:off x="877824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869680" y="4343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step by step — each stage tested before moving to the next.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45720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94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CONCLUSION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49808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prototype — with room to grow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1945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lighting and webcam quality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6148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27614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tuned thresholds; limited dataset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3284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33284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Glasses, head movement &amp; face shape affect it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895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3895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expressions can be misread as drowsy/yawning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46227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97280" y="44622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— not a production safety system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1783080"/>
            <a:ext cx="5166360" cy="4023360"/>
          </a:xfrm>
          <a:prstGeom prst="roundRect">
            <a:avLst>
              <a:gd name="adj" fmla="val 2727"/>
            </a:avLst>
          </a:prstGeom>
          <a:solidFill>
            <a:srgbClr val="16265A"/>
          </a:solidFill>
          <a:ln w="15240">
            <a:solidFill>
              <a:srgbClr val="0FB6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conclusion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1228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started as a simple webcam test grew into a full real-time ML prototype: OpenCV captures video, MediaPipe finds landmarks, and EAR + mouth-ratio features drive the prediction.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81228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trained on collected data now classifies the driver live as: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12280" y="5074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21" name="Text 18"/>
          <p:cNvSpPr/>
          <p:nvPr/>
        </p:nvSpPr>
        <p:spPr>
          <a:xfrm>
            <a:off x="681228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85048" y="5074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8385048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957816" y="5074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9957816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Drowsiness Detection System Using Machine Learning</dc:title>
  <dc:subject>PptxGenJS Presentation</dc:subject>
  <dc:creator>Driver Drowsiness Detection Project</dc:creator>
  <cp:lastModifiedBy>Driver Drowsiness Detection Project</cp:lastModifiedBy>
  <cp:revision>1</cp:revision>
  <dcterms:created xsi:type="dcterms:W3CDTF">2026-06-22T09:32:46Z</dcterms:created>
  <dcterms:modified xsi:type="dcterms:W3CDTF">2026-06-22T09:32:46Z</dcterms:modified>
</cp:coreProperties>
</file>