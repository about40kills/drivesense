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6A8"/>
              </a:solidFill>
              <a:effectLst/>
            </c:spPr>
          </c:dPt>
          <c:dPt>
            <c:idx val="1"/>
            <c:bubble3D val="0"/>
            <c:spPr>
              <a:solidFill>
                <a:srgbClr val="F5A5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Testing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Fatigue Points Added</c:v>
                </c:pt>
              </c:strCache>
            </c:strRef>
          </c:tx>
          <c:spPr>
            <a:solidFill>
              <a:srgbClr val="0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DISTRACTED</c:v>
                  </c:pt>
                  <c:pt idx="1">
                    <c:v>YAWNING</c:v>
                  </c:pt>
                  <c:pt idx="2">
                    <c:v>DROWSY</c:v>
                  </c:pt>
                  <c:pt idx="3">
                    <c:v>MICRO-SLEEP!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10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9144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KNUST  ·  COMPUTER SCIENCE  ·  FINAL YEAR PROJECT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DriveSense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Driver Drowsiness &amp; Distraction Detection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MediaPipe + Random Forest. Detects AWAKE / DROWSY / YAWNING, head-pose distraction, gaze deviation, micro-sleep events, and computes a rolling fatigue score — served via a live Flask web dashboard.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51023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15468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510235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1304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0" y="489204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510235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4768" y="48920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fatigue and distraction before they become dangerous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83480" cy="4526280"/>
          </a:xfrm>
          <a:prstGeom prst="roundRect">
            <a:avLst>
              <a:gd name="adj" fmla="val 242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production-grade, real-time drowsiness and distraction detector that outperforms rule-based systems and persists detection data across sessions.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DriveSense uses MediaPipe facial landmarks and a Random Forest classifier to monitor driver alertness. A Flask dashboard streams live video, biometric charts, and a rolling fatigue score. Per-driver calibration profiles and SQLite event logging make it production-ready.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897880" y="1645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DriveSense does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97880" y="210312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2402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21031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analyse webcam video at 25–30 FPS in real time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2761488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8986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3952" y="276148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478 facial landmarks via MediaPipe Face Landmarker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97880" y="3419856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355701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73952" y="341985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EAR, mouth ratio, iris ratios, and head-pose angles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97880" y="4078224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421538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3952" y="407822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AWAKE / DROWSY / YAWNING; detect head-pose distraction, gaze deviation, blink anomalies, and micro-sleep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897880" y="4736592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487375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73952" y="4736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events to SQLite and per-driver calibration to JSON profiles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897880" y="5394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553212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73952" y="53949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live MJPEG video + SSE biometric stream via Flask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B6A8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an open-source Python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B6A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39112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all pipeline modules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53128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1B3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03911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33288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733288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capture, frame annotation, MJPEG encoding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357616" y="155448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13648" y="1828800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F5A52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039112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37776" y="1847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637776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478-point face landmark detection (face_landmarker.task)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E8C8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648456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28800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Math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828800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/ mouth ratio / iris ratio geometry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453128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09160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16265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648456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33288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733288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loading, feature inspection, temporal split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357616" y="3163824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613648" y="3438144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22C55E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648456"/>
            <a:ext cx="420624" cy="42062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37776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637776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dashboard: MJPEG stream + SSE events + REST API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548640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804672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EF4444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5257800"/>
            <a:ext cx="420624" cy="42062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828800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40" name="Text 30"/>
          <p:cNvSpPr/>
          <p:nvPr/>
        </p:nvSpPr>
        <p:spPr>
          <a:xfrm>
            <a:off x="1828800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training, temporal split, 5-fold CV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4453128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709160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0FB6A8"/>
          </a:solidFill>
          <a:ln/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5257800"/>
            <a:ext cx="420624" cy="42062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733288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</a:t>
            </a:r>
            <a:endParaRPr lang="en-US" sz="1700" dirty="0"/>
          </a:p>
        </p:txBody>
      </p:sp>
      <p:sp>
        <p:nvSpPr>
          <p:cNvPr id="45" name="Text 34"/>
          <p:cNvSpPr/>
          <p:nvPr/>
        </p:nvSpPr>
        <p:spPr>
          <a:xfrm>
            <a:off x="5733288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Hz alert tone — cross-platform audio output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8357616" y="47731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8613648" y="5047488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F59E0B"/>
          </a:solidFill>
          <a:ln/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960" y="5257800"/>
            <a:ext cx="420624" cy="42062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637776" y="5065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50" name="Text 38"/>
          <p:cNvSpPr/>
          <p:nvPr/>
        </p:nvSpPr>
        <p:spPr>
          <a:xfrm>
            <a:off x="9637776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feature importance plots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webcam frame to alert, dashboard, and event log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74520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frames via OpenCV VideoCapture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45973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81144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73752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B6A8"/>
          </a:solidFill>
          <a:ln/>
        </p:spPr>
      </p:sp>
      <p:sp>
        <p:nvSpPr>
          <p:cNvPr id="14" name="Text 10"/>
          <p:cNvSpPr/>
          <p:nvPr/>
        </p:nvSpPr>
        <p:spPr>
          <a:xfrm>
            <a:off x="4873752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907024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73752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478 landmarks + facial transform matrix</a:t>
            </a:r>
            <a:endParaRPr lang="en-US" sz="13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459736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613648" y="1691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06256" y="1984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F5A524"/>
          </a:solidFill>
          <a:ln/>
        </p:spPr>
      </p:sp>
      <p:sp>
        <p:nvSpPr>
          <p:cNvPr id="20" name="Text 15"/>
          <p:cNvSpPr/>
          <p:nvPr/>
        </p:nvSpPr>
        <p:spPr>
          <a:xfrm>
            <a:off x="8906256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939528" y="2002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906256" y="2743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EAR, mouth ratio, iris H/V ratio, head pitch/yaw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1248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E8C82"/>
          </a:solidFill>
          <a:ln/>
        </p:spPr>
      </p:sp>
      <p:sp>
        <p:nvSpPr>
          <p:cNvPr id="25" name="Text 20"/>
          <p:cNvSpPr/>
          <p:nvPr/>
        </p:nvSpPr>
        <p:spPr>
          <a:xfrm>
            <a:off x="841248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1874520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41248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AWAKE / DROWSY / YAWNING</a:t>
            </a:r>
            <a:endParaRPr lang="en-US" sz="13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4745736"/>
            <a:ext cx="292608" cy="29260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81144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73752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F4444"/>
          </a:solidFill>
          <a:ln/>
        </p:spPr>
      </p:sp>
      <p:sp>
        <p:nvSpPr>
          <p:cNvPr id="31" name="Text 25"/>
          <p:cNvSpPr/>
          <p:nvPr/>
        </p:nvSpPr>
        <p:spPr>
          <a:xfrm>
            <a:off x="4873752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5907024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4873752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Head-pose, gaze, blink rate, micro-sleep</a:t>
            </a:r>
            <a:endParaRPr lang="en-US" sz="13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745736"/>
            <a:ext cx="292608" cy="29260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613648" y="397764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906256" y="4270248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2C55E"/>
          </a:solidFill>
          <a:ln/>
        </p:spPr>
      </p:sp>
      <p:sp>
        <p:nvSpPr>
          <p:cNvPr id="37" name="Text 30"/>
          <p:cNvSpPr/>
          <p:nvPr/>
        </p:nvSpPr>
        <p:spPr>
          <a:xfrm>
            <a:off x="8906256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1"/>
          <p:cNvSpPr/>
          <p:nvPr/>
        </p:nvSpPr>
        <p:spPr>
          <a:xfrm>
            <a:off x="9939528" y="4288536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Dashboard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8906256" y="50292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Hz alert + MJPEG stream + SSE fatigue score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B6A8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FACE LANDMARKS &amp; FEATURE MODULE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maps 478 points; features.py extracts all ratios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module src/features.py defines landmark index groups and computes EAR, mouth ratio, and iris ratios. Importing from this one module eliminates train/serve skew — training and inference always use identical feature logic.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924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eye: landmarks [33, 160, 158, 133, 153, 144]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22776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6908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39227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eye: landmarks [362, 385, 387, 263, 373, 380]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599432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74573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4599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centres: 468 (left), 473 (right) for gaze tracking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53796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772400" y="2217420"/>
            <a:ext cx="2651760" cy="3383280"/>
          </a:xfrm>
          <a:prstGeom prst="ellipse">
            <a:avLst/>
          </a:prstGeom>
          <a:solidFill>
            <a:srgbClr val="16265A"/>
          </a:solidFill>
          <a:ln w="19050">
            <a:solidFill>
              <a:srgbClr val="0FB6A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101584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Shape 13"/>
          <p:cNvSpPr/>
          <p:nvPr/>
        </p:nvSpPr>
        <p:spPr>
          <a:xfrm>
            <a:off x="8247888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Shape 14"/>
          <p:cNvSpPr/>
          <p:nvPr/>
        </p:nvSpPr>
        <p:spPr>
          <a:xfrm>
            <a:off x="8439912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Shape 15"/>
          <p:cNvSpPr/>
          <p:nvPr/>
        </p:nvSpPr>
        <p:spPr>
          <a:xfrm>
            <a:off x="8595360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Shape 16"/>
          <p:cNvSpPr/>
          <p:nvPr/>
        </p:nvSpPr>
        <p:spPr>
          <a:xfrm>
            <a:off x="8439912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3" name="Shape 17"/>
          <p:cNvSpPr/>
          <p:nvPr/>
        </p:nvSpPr>
        <p:spPr>
          <a:xfrm>
            <a:off x="8247888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Shape 18"/>
          <p:cNvSpPr/>
          <p:nvPr/>
        </p:nvSpPr>
        <p:spPr>
          <a:xfrm>
            <a:off x="9509760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5" name="Shape 19"/>
          <p:cNvSpPr/>
          <p:nvPr/>
        </p:nvSpPr>
        <p:spPr>
          <a:xfrm>
            <a:off x="9665208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6" name="Shape 20"/>
          <p:cNvSpPr/>
          <p:nvPr/>
        </p:nvSpPr>
        <p:spPr>
          <a:xfrm>
            <a:off x="9857232" y="33329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003536" y="3451860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Shape 22"/>
          <p:cNvSpPr/>
          <p:nvPr/>
        </p:nvSpPr>
        <p:spPr>
          <a:xfrm>
            <a:off x="9857232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9" name="Shape 23"/>
          <p:cNvSpPr/>
          <p:nvPr/>
        </p:nvSpPr>
        <p:spPr>
          <a:xfrm>
            <a:off x="9665208" y="35707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Shape 24"/>
          <p:cNvSpPr/>
          <p:nvPr/>
        </p:nvSpPr>
        <p:spPr>
          <a:xfrm>
            <a:off x="8595360" y="4558284"/>
            <a:ext cx="1005840" cy="438912"/>
          </a:xfrm>
          <a:prstGeom prst="ellipse">
            <a:avLst/>
          </a:prstGeom>
          <a:solidFill>
            <a:srgbClr val="16265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5360" y="47320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Shape 26"/>
          <p:cNvSpPr/>
          <p:nvPr/>
        </p:nvSpPr>
        <p:spPr>
          <a:xfrm>
            <a:off x="9509760" y="47320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Shape 27"/>
          <p:cNvSpPr/>
          <p:nvPr/>
        </p:nvSpPr>
        <p:spPr>
          <a:xfrm>
            <a:off x="9052560" y="454914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Shape 28"/>
          <p:cNvSpPr/>
          <p:nvPr/>
        </p:nvSpPr>
        <p:spPr>
          <a:xfrm>
            <a:off x="9052560" y="49149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690372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→ EAR + Iris H/V Ratio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903720" y="5623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→ Mouth Open Ratio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FEATURE EXTRACTION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computed features per frame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574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5A52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5856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20240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eye openness. Low EAR = closed / drowsy. Threshold: 0.40.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32461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F1B3D"/>
          </a:solidFill>
          <a:ln/>
        </p:spPr>
      </p:sp>
      <p:sp>
        <p:nvSpPr>
          <p:cNvPr id="12" name="Text 8"/>
          <p:cNvSpPr/>
          <p:nvPr/>
        </p:nvSpPr>
        <p:spPr>
          <a:xfrm>
            <a:off x="1097280" y="32461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(v1 + v2)</a:t>
            </a:r>
            <a:pPr indent="0" marL="0">
              <a:buNone/>
            </a:pPr>
            <a:r>
              <a:rPr lang="en-US" sz="19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× h)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v2 = vertical distances · h = horizontal span (6 landmarks)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per driver via calibration — persisted to profiles.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99632" y="17373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0574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585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7123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Open Ratio + Iris Ratios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571232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Yawning: mouth ratio &gt; 0.10. Gaze: iris_h_ratio and iris_v_ratio.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565392" y="32461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F1B3D"/>
          </a:solidFill>
          <a:ln/>
        </p:spPr>
      </p:sp>
      <p:sp>
        <p:nvSpPr>
          <p:cNvPr id="21" name="Text 16"/>
          <p:cNvSpPr/>
          <p:nvPr/>
        </p:nvSpPr>
        <p:spPr>
          <a:xfrm>
            <a:off x="6748272" y="32461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</a:t>
            </a:r>
            <a:pPr indent="0" marL="0">
              <a:buNone/>
            </a:pPr>
            <a:r>
              <a:rPr lang="en-US" sz="17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65392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H: 0.0=left  0.5=centre  1.0=right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65392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V: 0.0=up  0.5=centre  1.0=down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MULTI-MODAL DISTRACTION DETECTION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Head-pose, gaze, blink rate, and micro-sleep checks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8483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Head-pose |pitch| &gt; 20° or |yaw| &gt; 25°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36592" y="2194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0" name="Text 7"/>
          <p:cNvSpPr/>
          <p:nvPr/>
        </p:nvSpPr>
        <p:spPr>
          <a:xfrm>
            <a:off x="4736592" y="2194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15 frames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98064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9806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H ratio &lt; 0.28 or &gt; 0.72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36592" y="290779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4736592" y="2907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20 frames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1129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Micro-sleep: eye closure 3–15 consecutive frames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36592" y="362102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18" name="Text 15"/>
          <p:cNvSpPr/>
          <p:nvPr/>
        </p:nvSpPr>
        <p:spPr>
          <a:xfrm>
            <a:off x="4736592" y="3621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3 events / 60 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22452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anomaly (60 s sliding window)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36592" y="433425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22" name="Text 19"/>
          <p:cNvSpPr/>
          <p:nvPr/>
        </p:nvSpPr>
        <p:spPr>
          <a:xfrm>
            <a:off x="4736592" y="4334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50292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 run every frame alongside the ML classifier. If any rule fires, the ML label is overridden with DISTRACTED or MICRO-SLEEP!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2940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29400" y="2395728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261518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76148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89520" y="2523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DISTRACTED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589520" y="2871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|pitch|&gt;20° or |yaw|&gt;25° for 15+ frames — fires first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629400" y="3566160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58000" y="37856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3931920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589520" y="3694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MICRO-SLEEP!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758952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micro-sleep events in 60 s — fires second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629400" y="4736592"/>
            <a:ext cx="4709160" cy="987552"/>
          </a:xfrm>
          <a:prstGeom prst="roundRect">
            <a:avLst>
              <a:gd name="adj" fmla="val 9259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858000" y="495604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5102352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8952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7589520" y="5212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label (AWAKE / DROWSY / YAWNING) if no rule fires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8C82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· DATASET &amp; TEMPORAL SPLIT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4,742 labelled frames — split by time, not randomly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save_dataset.py  →  data/drowsiness_dataset.csv  (4,742 rows)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577840" cy="3886200"/>
          </a:xfrm>
          <a:prstGeom prst="roundRect">
            <a:avLst>
              <a:gd name="adj" fmla="val 23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450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8712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871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left_ear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right_ear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3712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37124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avg_ear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4133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mouth_ratio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8680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43000" y="4553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closed_eye_frames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8680" y="4974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4974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open_mouth_frames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5394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4300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93192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class label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first 80% train, last 20% test (not random)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0" y="224028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01968" y="239572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532888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94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269480" y="2660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alert facial state (majority class)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400800" y="32004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601968" y="33558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493008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694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726948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/ heavy eyes — simulated fatigue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400800" y="41605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601968" y="431596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53128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2694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7269480" y="4581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sustained mouth open — simulated yawn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6400800" y="5212080"/>
            <a:ext cx="5257800" cy="1143000"/>
          </a:xfrm>
          <a:prstGeom prst="roundRect">
            <a:avLst>
              <a:gd name="adj" fmla="val 10526"/>
            </a:avLst>
          </a:prstGeom>
          <a:solidFill>
            <a:srgbClr val="0F1B3D"/>
          </a:solidFill>
          <a:ln/>
        </p:spPr>
      </p:sp>
      <p:sp>
        <p:nvSpPr>
          <p:cNvPr id="42" name="Text 36"/>
          <p:cNvSpPr/>
          <p:nvPr/>
        </p:nvSpPr>
        <p:spPr>
          <a:xfrm>
            <a:off x="6629400" y="5321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check_dataset.py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6629400" y="55961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temporal? closed_eye_frames is a sequential counter. Adjacent frames share near-identical values, so a random split leaks data between sets, inflating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MODEL TRAINING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RandomForestClassifier — n_estimators=100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numeric features  →  AWAKE / DROWSY / YAWNING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94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left_ear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37560" y="21945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3520440" y="2194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right_ear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52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avg_ear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337560" y="28529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852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mouth_ratio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511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closed_eye_frames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337560" y="3511296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5F7FB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3511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open_mouth_frames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773168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EAR/mouth numerical features, runs at real-time speed on CPU (no GPU). Feature importance rankings available. NO-FACE rows stripped before fit. Model saved via joblib to models_ml/drowsiness_model.pkl.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675120" y="233172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781812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LIVE INFERENCE — TWO MODES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(OpenCV) + Web Dashboard (Flask)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src/app.py  →  http://127.0.0.1:5001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22576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reads webcam frames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889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478 landmarks per frame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34930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features.py computes EAR, mouth, iris ratios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4096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 + head-pose + gaze + micro-sleep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4700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frames → MJPEG stream at /video_feed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48640" y="5340096"/>
            <a:ext cx="384048" cy="38404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728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fatigue score → SSE stream at /events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9224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1228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246888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22592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2C55E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779776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680960" y="2468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AWAKE / DROWSY / DISTRACTED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812280" y="3547872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022592" y="37307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4444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858768"/>
            <a:ext cx="246888" cy="2468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680960" y="35478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Fatigue Score: 0–100 (rolling 5 min)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6812280" y="4626864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16265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022592" y="48097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937760"/>
            <a:ext cx="246888" cy="2468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680960" y="462686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Chart.js EAR timeline + event log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EVALUATION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99.6% hold-out accuracy — ML crushes rule-based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evaluate_model.py + compare_models.py  →  results/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Accuracy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 (759 frames, temporal test set)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6704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B6A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2736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02736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± 2.2%  (range 94.3–99.9%)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44768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Accuracy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50.1%  — 0% DROWSY recall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42832" y="2331720"/>
            <a:ext cx="2578608" cy="155448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98864" y="2578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21" name="Text 18"/>
          <p:cNvSpPr/>
          <p:nvPr/>
        </p:nvSpPr>
        <p:spPr>
          <a:xfrm>
            <a:off x="9198864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DROWSY F1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98864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 (perfect precision + recall)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160520"/>
            <a:ext cx="11109960" cy="1920240"/>
          </a:xfrm>
          <a:prstGeom prst="roundRect">
            <a:avLst>
              <a:gd name="adj" fmla="val 571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868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A524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5720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00200" y="4407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1600200" y="48006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achieves 100% DROWSY recall vs 0% for the rule-based system. Temporal split is essential — random splitting inflates accuracy to ~100% artificially by leaking sequential frame counters.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8732520" y="4462272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53144" y="4462272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573768" y="4462272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732520" y="4882896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53144" y="4882896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73768" y="4882896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732520" y="5303520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153144" y="5303520"/>
            <a:ext cx="384048" cy="384048"/>
          </a:xfrm>
          <a:prstGeom prst="rect">
            <a:avLst/>
          </a:prstGeom>
          <a:solidFill>
            <a:srgbClr val="16265A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73768" y="5303520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131552" y="48828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prevents leakage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8C82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43584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logging, driver profiles &amp; fatigue score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49640" y="1783080"/>
            <a:ext cx="3108960" cy="4297680"/>
          </a:xfrm>
          <a:prstGeom prst="roundRect">
            <a:avLst>
              <a:gd name="adj" fmla="val 352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0F1B3D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782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SCORE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68680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5800" dirty="0"/>
          </a:p>
        </p:txBody>
      </p:sp>
      <p:sp>
        <p:nvSpPr>
          <p:cNvPr id="10" name="Text 6"/>
          <p:cNvSpPr/>
          <p:nvPr/>
        </p:nvSpPr>
        <p:spPr>
          <a:xfrm>
            <a:off x="87782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5 min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869680" y="4343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logs events to data/events.db (SQLite). profiles.py saves calibrated EAR thresholds to data/profiles/{name}.json — restored on driver switch. Fatigue weights: DROWSY +10, MICRO-SLEEP +15, YAWNING +3, DISTRACTED +2. Broadcast in every SSE update at /events.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4572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CONCLUSION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49808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DriveSense — production-ready, with room to grow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lighting — MediaPipe needs adequate illumination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761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Single-subject training dataset — may not generalise without retraining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33284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vehicle validation — stationary simulation only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895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fatigue gauge widget not yet wired in index.html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4622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4462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Night-vision / IR camera support not yet implemented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178308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16265A"/>
          </a:solidFill>
          <a:ln w="15240">
            <a:solidFill>
              <a:srgbClr val="0FB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DriveSense achieves 99.6% hold-out accuracy with a Random Forest trained on 4,742 frames (temporal split). Multi-modal coverage: head-pose distraction, gaze deviation, micro-sleep, per-driver calibration, SQLite event persistence, and a rolling fatigue score.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web dashboard streams live MJPEG video and SSE biometric data to any browser — no app install required. The system classifies the driver as: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12280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85048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8385048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57816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9957816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4572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49808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DriveSense — from desktop prototype to in-vehicle deployment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in-car deployment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 — Raspberry Pi 5 / Jetson Nano, dash- or column-mounted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761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operation — systemd service, auto-starts on boot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33284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camera source — replace hardcoded cv2.VideoCapture(0)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895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power — 12V accessory socket via buck converter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4622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4462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vehicle validation — vibration, lighting, genuine fatigue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178308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16265A"/>
          </a:solidFill>
          <a:ln w="15240">
            <a:solidFill>
              <a:srgbClr val="0FB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prototype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D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build is a desktop app: laptop and webcam. That proves the detection pipeline works, but a real driver-monitoring system needs to run unattended in a moving vehicle, not tethered to a laptop on the dash.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dashboard becomes a post-drive review and fleet-monitoring tool. In the vehicle, the audible alert stays the primary driver-facing output. Target hardware: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12280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85048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8385048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57816" y="5074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9957816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System Using Machine Learning</dc:title>
  <dc:subject>PptxGenJS Presentation</dc:subject>
  <dc:creator>Driver Drowsiness Detection Project</dc:creator>
  <cp:lastModifiedBy>Driver Drowsiness Detection Project</cp:lastModifiedBy>
  <cp:revision>1</cp:revision>
  <dcterms:created xsi:type="dcterms:W3CDTF">2026-06-22T09:32:46Z</dcterms:created>
  <dcterms:modified xsi:type="dcterms:W3CDTF">2026-06-22T09:32:46Z</dcterms:modified>
</cp:coreProperties>
</file>